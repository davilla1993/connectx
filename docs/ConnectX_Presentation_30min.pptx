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0D9488">
              <a:alpha val="13000"/>
            </a:srgbClr>
          </a:solidFill>
          <a:ln w="12700">
            <a:solidFill>
              <a:srgbClr val="0D9488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560320"/>
            <a:ext cx="2743200" cy="27432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22860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MASTER 1 · IA &amp; BIG DATA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6858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ConnectX</a:t>
            </a:r>
            <a:endParaRPr lang="en-US" sz="78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4B8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Réseau Social Avancé en Django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114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8036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AC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Conception · Développement · Déploiement Cloud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GBOSSOU Folly Sitou Carlo  ·  POTCHO ESSOSSOLAM Maxime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Web : Django  ·  M. NYAKU  ·  2025 –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645152"/>
            <a:ext cx="1325880" cy="256032"/>
          </a:xfrm>
          <a:prstGeom prst="rect">
            <a:avLst/>
          </a:prstGeom>
          <a:solidFill>
            <a:srgbClr val="0D1F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6451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</a:rPr>
              <a:t>Django 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74520" y="4645152"/>
            <a:ext cx="1325880" cy="256032"/>
          </a:xfrm>
          <a:prstGeom prst="rect">
            <a:avLst/>
          </a:prstGeom>
          <a:solidFill>
            <a:srgbClr val="0D1F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74520" y="46451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</a:rPr>
              <a:t>Channels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91840" y="4645152"/>
            <a:ext cx="1325880" cy="256032"/>
          </a:xfrm>
          <a:prstGeom prst="rect">
            <a:avLst/>
          </a:prstGeom>
          <a:solidFill>
            <a:srgbClr val="0D1F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46451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</a:rPr>
              <a:t>PostgreSQL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09160" y="4645152"/>
            <a:ext cx="1325880" cy="256032"/>
          </a:xfrm>
          <a:prstGeom prst="rect">
            <a:avLst/>
          </a:prstGeom>
          <a:solidFill>
            <a:srgbClr val="0D1F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46451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</a:rPr>
              <a:t>Redis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126480" y="4645152"/>
            <a:ext cx="1325880" cy="256032"/>
          </a:xfrm>
          <a:prstGeom prst="rect">
            <a:avLst/>
          </a:prstGeom>
          <a:solidFill>
            <a:srgbClr val="0D1F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46451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</a:rPr>
              <a:t>Docker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543800" y="4645152"/>
            <a:ext cx="1325880" cy="256032"/>
          </a:xfrm>
          <a:prstGeom prst="rect">
            <a:avLst/>
          </a:prstGeom>
          <a:solidFill>
            <a:srgbClr val="0D1F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43800" y="46451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</a:rPr>
              <a:t>Hetzner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9204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PLAN DE LA PRÉSENTATION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502920" cy="1234440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04672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914400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42"/>
                </a:solidFill>
              </a:rPr>
              <a:t>Contexte &amp; Objectifs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3716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Problématique, buts du projet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18688" y="804672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804672"/>
            <a:ext cx="502920" cy="1234440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804672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13048" y="914400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42"/>
                </a:solidFill>
              </a:rPr>
              <a:t>Architecture &amp; Conception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13048" y="13716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Structure modulaire, ASGI, BaseModel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63056" y="804672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804672"/>
            <a:ext cx="502920" cy="1234440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804672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57416" y="914400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42"/>
                </a:solidFill>
              </a:rPr>
              <a:t>Développement — Accounts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57416" y="13716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Auth sécurisée &amp; gestion des profils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221992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221992"/>
            <a:ext cx="502920" cy="1234440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221992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2331720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42"/>
                </a:solidFill>
              </a:rPr>
              <a:t>Développement — Posts &amp; Social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27889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Publications, likes, abonnements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18688" y="2221992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18688" y="2221992"/>
            <a:ext cx="502920" cy="1234440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18688" y="2221992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13048" y="2331720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42"/>
                </a:solidFill>
              </a:rPr>
              <a:t>Développement — Temps réel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13048" y="27889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Chat WS, Notifications, Stories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63056" y="2221992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63056" y="2221992"/>
            <a:ext cx="502920" cy="1234440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2221992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57416" y="2331720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42"/>
                </a:solidFill>
              </a:rPr>
              <a:t>Déploiement &amp; DevOps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57416" y="27889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Docker · Hetzner · Coolify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639312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639312"/>
            <a:ext cx="502920" cy="1234440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639312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68680" y="3749040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42"/>
                </a:solidFill>
              </a:rPr>
              <a:t>Sécurité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68680" y="420624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Auth, CSRF, WebSocket, UUID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18688" y="3639312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18688" y="3639312"/>
            <a:ext cx="502920" cy="1234440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18688" y="3639312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08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813048" y="3749040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42"/>
                </a:solidFill>
              </a:rPr>
              <a:t>Tests &amp; Résultats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813048" y="420624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Scénarios, résultats, améliorations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63056" y="3639312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63056" y="3639312"/>
            <a:ext cx="502920" cy="1234440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63056" y="3639312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09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757416" y="3749040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42"/>
                </a:solidFill>
              </a:rPr>
              <a:t>Conclusion &amp; Perspectives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757416" y="420624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Bilan technique &amp; évolutions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4572000" cy="45720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114800" cy="41148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10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71600" y="32461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Problématique · Buts du projet · Plan du rapport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6459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01 · CONTEXTE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686800" y="489204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09728"/>
            <a:ext cx="6583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942"/>
                </a:solidFill>
              </a:rPr>
              <a:t>Contexte &amp; Problématique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046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Un exercice d'ingénierie full-stack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Les grands réseaux sociaux (Instagram, Twitter/X, Facebook, LinkedIn) combinent des architectures complexes : HTTP classique, WebSocket pour le temps réel, gestion de médias, sécurité multi-utilisateurs. Les reproduire avec Django mobilise des compétences avancées : ORM, async/await, protocoles réseau, authentification et optimisation.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697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42"/>
                </a:solidFill>
              </a:rPr>
              <a:t>Questions techniques fondamentales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090672"/>
            <a:ext cx="54864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309981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942"/>
                </a:solidFill>
              </a:rPr>
              <a:t>Comment modéliser des relations many-to-many (likes, abonnements asymétriques) 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547872"/>
            <a:ext cx="54864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355701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942"/>
                </a:solidFill>
              </a:rPr>
              <a:t>Comment implémenter des WebSockets dans Django, traditionnellement synchrone 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4005072"/>
            <a:ext cx="54864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401421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942"/>
                </a:solidFill>
              </a:rPr>
              <a:t>Comment sécuriser les données dans un contexte multi-utilisateurs 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462272"/>
            <a:ext cx="54864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447141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942"/>
                </a:solidFill>
              </a:rPr>
              <a:t>Comment déployer une app ASGI en production avec Docker &amp; Cloud 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777240"/>
            <a:ext cx="4114800" cy="4160520"/>
          </a:xfrm>
          <a:prstGeom prst="rect">
            <a:avLst/>
          </a:prstGeom>
          <a:solidFill>
            <a:srgbClr val="1A29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960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ConnectX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0" y="1417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C4D8"/>
                </a:solidFill>
              </a:rPr>
              <a:t>La réponse concrète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94960" y="1737360"/>
            <a:ext cx="256032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87452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›  Auth complète avec vérification email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224028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›  Publications texte + jusqu'à 5 images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260604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›  Abonnements asymétriques (follow/unfollow)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297180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›  Messagerie privée WebSocket temps réel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333756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›  Notifications push instantanées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370332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›  Stories éphémères 24h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406908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›  Déploiement production Cloud (HTTPS)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6459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01 · OBJECTIFS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686800" y="489204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09728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942"/>
                </a:solidFill>
              </a:rPr>
              <a:t>Objectifs Techniques &amp; Fonctionnels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2296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502920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22960"/>
            <a:ext cx="502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91440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Publications multimédia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280160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Texte 2 000 car. + jusqu'à 5 images (JPEG, PNG, GIF, WebP ; 5 Mo max) avec validation client ET serveur.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82296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822960"/>
            <a:ext cx="502920" cy="12618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822960"/>
            <a:ext cx="502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49240" y="91440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Abonnements asymétriques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49240" y="1280160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Follow/unfollow avec soft delete pour préserver l'historique et permettre le re-follow ultérieur.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24028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240280"/>
            <a:ext cx="502920" cy="12618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240280"/>
            <a:ext cx="502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233172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</a:rPr>
              <a:t>Messagerie temps réel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2697480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HTTP pour l'historique + WebSocket pour le temps réel, avec indicateurs de frappe et de présence.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24028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240280"/>
            <a:ext cx="502920" cy="12618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240280"/>
            <a:ext cx="502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49240" y="233172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Notifications push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2697480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Déclenchées par signaux Django (post_save) pour 4 types : like, commentaire, abonnement, message.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65760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657600"/>
            <a:ext cx="502920" cy="12618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657600"/>
            <a:ext cx="502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" y="374904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Stories éphémères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4114800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Expiration auto via expires_at ORM, sans tâche planifiée Celery. Filtrage pur ORM.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65760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657600"/>
            <a:ext cx="502920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657600"/>
            <a:ext cx="502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49240" y="374904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Déploiement production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49240" y="4114800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Containerisation Docker, ASGI Daphne, Redis channel layer, infrastructure Hetzner + Coolify.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4572000" cy="45720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114800" cy="41148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10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Conception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71600" y="32461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Modules Django · ASGI · BaseModel · Modèle de données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6459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02 · ARCHITECTURE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686800" y="489204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09728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942"/>
                </a:solidFill>
              </a:rPr>
              <a:t>Architecture Modulaire — 7 Apps Django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04672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046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accounts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11521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Auth &amp; profils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499616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CustomUser · Profile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RegisterView · LoginView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23160" y="804672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804672"/>
            <a:ext cx="201168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8046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23160" y="11521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Publications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1499616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Post · PostImage · Like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Comment · FeedView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17720" y="804672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804672"/>
            <a:ext cx="2011680" cy="3200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8046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social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17720" y="11521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</a:rPr>
              <a:t>Abonnements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1499616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Follow · FollowToggle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Suggestions · Listes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12280" y="804672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12280" y="804672"/>
            <a:ext cx="2011680" cy="3200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8046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chat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12280" y="11521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Messagerie WS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03720" y="1499616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Conversation · Message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ChatConsumer (ASGI)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8600" y="2724912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2724912"/>
            <a:ext cx="2011680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27249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notifications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8600" y="307238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Push temps réel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" y="3419856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Notification · Signaux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NotifConsumer (ASGI)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423160" y="2724912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423160" y="2724912"/>
            <a:ext cx="201168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23160" y="27249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stories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423160" y="307238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</a:rPr>
              <a:t>Contenu éphémère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514600" y="3419856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Story · expires_at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Visionneuse plein écran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17720" y="2724912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17720" y="2724912"/>
            <a:ext cx="2011680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27249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core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17720" y="307238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BaseModel abstrait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09160" y="3419856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UUID public · soft delete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audit trail (created/updated)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6459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02 · ASGI &amp; BASEMODEL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686800" y="489204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09728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942"/>
                </a:solidFill>
              </a:rPr>
              <a:t>Architecture ASGI &amp; BaseModel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Pipeline ASGI — Daphne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170432"/>
            <a:ext cx="393192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88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Client Browser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142646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FD9EC"/>
                </a:solidFill>
              </a:rPr>
              <a:t>HTTP  /  WebSocket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6459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837944"/>
            <a:ext cx="39319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8562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Daphne (ASGI)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209397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FD9EC"/>
                </a:solidFill>
              </a:rPr>
              <a:t>Point d'entrée unique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31343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505456"/>
            <a:ext cx="3931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237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ProtocolTypeRouter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276148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FD9EC"/>
                </a:solidFill>
              </a:rPr>
              <a:t>route HTTP ↔ WS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5760" y="298094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172968"/>
            <a:ext cx="393192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1912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Django (HTTP)  +  Channels (WS)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34290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FD9EC"/>
                </a:solidFill>
              </a:rPr>
              <a:t>Couches parallèles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5760" y="364845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840480"/>
            <a:ext cx="3931920" cy="4572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8587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Redis Channel Layer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09651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FD9EC"/>
                </a:solidFill>
              </a:rPr>
              <a:t>Production multi-process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66344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BaseModel Abstrait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1170432"/>
            <a:ext cx="4114800" cy="3657600"/>
          </a:xfrm>
          <a:prstGeom prst="rect">
            <a:avLst/>
          </a:prstGeom>
          <a:solidFill>
            <a:srgbClr val="1A29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2618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C4D8"/>
                </a:solidFill>
              </a:rPr>
              <a:t>Hérité par tous les modèles métier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1600200"/>
            <a:ext cx="4114800" cy="365760"/>
          </a:xfrm>
          <a:prstGeom prst="rect">
            <a:avLst/>
          </a:prstGeom>
          <a:solidFill>
            <a:srgbClr val="1A3355"/>
          </a:solidFill>
          <a:ln w="12700">
            <a:solidFill>
              <a:srgbClr val="1A33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165506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public_id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26480" y="16550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7706"/>
                </a:solidFill>
              </a:rPr>
              <a:t>UUIDField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242048" y="1655064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B3CC"/>
                </a:solidFill>
              </a:rPr>
              <a:t>Identifiant public (URLs)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63440" y="1984248"/>
            <a:ext cx="411480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20391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created_at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26480" y="20391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7706"/>
                </a:solidFill>
              </a:rPr>
              <a:t>DateTimeField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242048" y="2039112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B3CC"/>
                </a:solidFill>
              </a:rPr>
              <a:t>Horodatage création auto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63440" y="2368296"/>
            <a:ext cx="4114800" cy="365760"/>
          </a:xfrm>
          <a:prstGeom prst="rect">
            <a:avLst/>
          </a:prstGeom>
          <a:solidFill>
            <a:srgbClr val="1A3355"/>
          </a:solidFill>
          <a:ln w="12700">
            <a:solidFill>
              <a:srgbClr val="1A33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36592" y="2423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updated_at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26480" y="2423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7706"/>
                </a:solidFill>
              </a:rPr>
              <a:t>DateTimeField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242048" y="2423160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B3CC"/>
                </a:solidFill>
              </a:rPr>
              <a:t>Horodatage màj auto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63440" y="2752344"/>
            <a:ext cx="411480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36592" y="28072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created_by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126480" y="2807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7706"/>
                </a:solidFill>
              </a:rPr>
              <a:t>FK → User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242048" y="2807208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B3CC"/>
                </a:solidFill>
              </a:rPr>
              <a:t>Audit trail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663440" y="3136392"/>
            <a:ext cx="4114800" cy="365760"/>
          </a:xfrm>
          <a:prstGeom prst="rect">
            <a:avLst/>
          </a:prstGeom>
          <a:solidFill>
            <a:srgbClr val="1A3355"/>
          </a:solidFill>
          <a:ln w="12700">
            <a:solidFill>
              <a:srgbClr val="1A33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36592" y="319125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updated_by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126480" y="31912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7706"/>
                </a:solidFill>
              </a:rPr>
              <a:t>FK → User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242048" y="3191256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B3CC"/>
                </a:solidFill>
              </a:rPr>
              <a:t>Audit trail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663440" y="3520440"/>
            <a:ext cx="411480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36592" y="35753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is_deleted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126480" y="357530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7706"/>
                </a:solidFill>
              </a:rPr>
              <a:t>BooleanField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242048" y="3575304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B3CC"/>
                </a:solidFill>
              </a:rPr>
              <a:t>Soft delete flag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663440" y="3904488"/>
            <a:ext cx="4114800" cy="365760"/>
          </a:xfrm>
          <a:prstGeom prst="rect">
            <a:avLst/>
          </a:prstGeom>
          <a:solidFill>
            <a:srgbClr val="1A3355"/>
          </a:solidFill>
          <a:ln w="12700">
            <a:solidFill>
              <a:srgbClr val="1A33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36592" y="39593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deleted_at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126480" y="39593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7706"/>
                </a:solidFill>
              </a:rPr>
              <a:t>DateTimeField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242048" y="3959352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B3CC"/>
                </a:solidFill>
              </a:rPr>
              <a:t>Date suppression logique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663440" y="4288536"/>
            <a:ext cx="411480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36592" y="43434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deleted_by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126480" y="43434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7706"/>
                </a:solidFill>
              </a:rPr>
              <a:t>FK → User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7242048" y="4343400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B3CC"/>
                </a:solidFill>
              </a:rPr>
              <a:t>Audit suppression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4572000" cy="45720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114800" cy="41148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10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Accounts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71600" y="32461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Authentification sécurisée · Gestion des profils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6459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03 · ACCOUNTS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686800" y="489204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097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942"/>
                </a:solidFill>
              </a:rPr>
              <a:t>Module accounts — Auth &amp; Profils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Workflow Double Opt-in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22529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25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2527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Inscription → is_active = False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" y="1609344"/>
            <a:ext cx="54864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874520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190195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Token généré (PasswordResetTokenGenerator)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" y="2258568"/>
            <a:ext cx="54864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523744"/>
            <a:ext cx="384048" cy="38404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55117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Email envoyé via Brevo SMTP (lien base64+token)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0352" y="2907792"/>
            <a:ext cx="54864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17296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32004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Clic lien → VerifyEmailView vérifie token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0352" y="3557016"/>
            <a:ext cx="54864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822192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384962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is_active = True · is_email_verified = True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Fonctionnalités clés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1170432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1170432"/>
            <a:ext cx="548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21615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2"/>
                </a:solidFill>
              </a:rPr>
              <a:t>USERNAME_FIELD = 'email'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147218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Auth par email (pas par username)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810512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1810512"/>
            <a:ext cx="548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185623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2"/>
                </a:solidFill>
              </a:rPr>
              <a:t>4 validateurs de mot de passe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00600" y="211226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Similarité, longueur, fréquence, numérique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2450592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2450592"/>
            <a:ext cx="548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249631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2"/>
                </a:solidFill>
              </a:rPr>
              <a:t>Messages d'erreur distincts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00600" y="275234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Compte non activé vs identifiants incorrects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090672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3090672"/>
            <a:ext cx="548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313639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2"/>
                </a:solidFill>
              </a:rPr>
              <a:t>Réinitialisation MDP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00600" y="339242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Tokens usage unique liés au hash du mdp actuel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3730752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3730752"/>
            <a:ext cx="548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77647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2"/>
                </a:solidFill>
              </a:rPr>
              <a:t>Profil personnalisable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800600" y="403250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Avatar · Couverture · Bio · Localisation · Web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4370832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63440" y="4370832"/>
            <a:ext cx="548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441655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942"/>
                </a:solidFill>
              </a:rPr>
              <a:t>SocialLoginRequired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800600" y="467258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Mixin universel → redirection staff vers /admin/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4572000" cy="45720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114800" cy="41148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10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Posts, Social &amp; Recherche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71600" y="32461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Publications · Likes · Fil d'actualité · Abonnements · Optimisation ORM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6459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04 · POSTS &amp; SOCIAL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686800" y="489204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942"/>
                </a:solidFill>
              </a:rPr>
              <a:t>Publications, Abonnements &amp; Optimisation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Module posts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170432"/>
            <a:ext cx="54864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18872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Texte jusqu'à 2 000 caractères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627632"/>
            <a:ext cx="54864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64592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Jusqu'à 5 images par post (JPEG/PNG/GIF/WebP, 5 Mo max)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084832"/>
            <a:ext cx="54864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10312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Validation double : JavaScript (prévisualisation) + Django (content_type)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542032"/>
            <a:ext cx="54864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256032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Like/Unlike AJAX → JsonResponse → mise à jour sans rechargement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999232"/>
            <a:ext cx="54864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301752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Soft delete sur Like pour préserver l'historique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456432"/>
            <a:ext cx="54864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347472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Fil d'actualité chronologique (order_by('-created_at'))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6344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Optimisation ORM du Feed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1143000"/>
            <a:ext cx="4114800" cy="1691640"/>
          </a:xfrm>
          <a:prstGeom prst="rect">
            <a:avLst/>
          </a:prstGeom>
          <a:solidFill>
            <a:srgbClr val="0F1F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20700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D8"/>
                </a:solidFill>
              </a:rPr>
              <a:t>Avant : N+1 queries (50+ pour 50 posts)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C4D8"/>
                </a:solidFill>
              </a:rPr>
              <a:t>Après : 5–6 requêtes fixes quelle que soit la taille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19019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select_related('author', 'author__profile')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21762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prefetch_related('images', 'likes', 'comments')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24505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annotate(user_liked=Exists(liked_subquery))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63440" y="29992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</a:rPr>
              <a:t>Module social — Follow/Unfollow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3383280"/>
            <a:ext cx="54864" cy="2560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34015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Réponse JSON pour AJAX sans rechargement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730752"/>
            <a:ext cx="54864" cy="2560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3749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Soft delete → re-follow préserve l'historique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4078224"/>
            <a:ext cx="54864" cy="2560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40965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unique_together = ('follower', 'following')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4425696"/>
            <a:ext cx="54864" cy="2560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44439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Prévention auto-follow (if target == request.user)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4773168"/>
            <a:ext cx="54864" cy="2560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47914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Suggestions : utilisateurs non suivis (hors staff)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4572000" cy="45720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114800" cy="41148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10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· Notifications · Stories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71600" y="32461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WebSocket · Django Channels · Signaux · Expiration automatique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6459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05 · TEMPS RÉEL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686800" y="489204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097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942"/>
                </a:solidFill>
              </a:rPr>
              <a:t>Chat WebSocket &amp; Notifications Push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ChatConsumer — Flux WebSocket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170432"/>
            <a:ext cx="4023360" cy="548640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070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connect()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120700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Auth + participation vérifiées → accept() ou close()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837944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745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receive()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28800" y="18745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Parse JSON → typing event OU save_message()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505456"/>
            <a:ext cx="4023360" cy="548640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420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save_message()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00" y="254203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database_sync_to_async → persist en BDD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172968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0954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group_send()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28800" y="320954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Diffuse à tous les participants du channel group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4023360" cy="548640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7705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disconnect()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828800" y="387705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Guard hasattr(room_group_name) → group_discard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344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Notifications — Flux Signaux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1170432"/>
            <a:ext cx="4114800" cy="566928"/>
          </a:xfrm>
          <a:prstGeom prst="rect">
            <a:avLst/>
          </a:prstGeom>
          <a:solidFill>
            <a:srgbClr val="1A1A2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2252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❤️  Like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14813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post_save(Like)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675120" y="122529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4D8"/>
                </a:solidFill>
              </a:rPr>
              <a:t>→ async_to_sync(channel_layer.group_send)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C4D8"/>
                </a:solidFill>
              </a:rPr>
              <a:t>→ Toast 4s + badge navbar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63440" y="1837944"/>
            <a:ext cx="4114800" cy="566928"/>
          </a:xfrm>
          <a:prstGeom prst="rect">
            <a:avLst/>
          </a:prstGeom>
          <a:solidFill>
            <a:srgbClr val="1A1A2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8928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💬  Commentaire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2148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post_save(Comment)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675120" y="189280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4D8"/>
                </a:solidFill>
              </a:rPr>
              <a:t>→ async_to_sync(channel_layer.group_send)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C4D8"/>
                </a:solidFill>
              </a:rPr>
              <a:t>→ Toast 4s + badge navbar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2505456"/>
            <a:ext cx="4114800" cy="566928"/>
          </a:xfrm>
          <a:prstGeom prst="rect">
            <a:avLst/>
          </a:prstGeom>
          <a:solidFill>
            <a:srgbClr val="1A1A2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👥  Abonnement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28163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post_save(Follow)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675120" y="256032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4D8"/>
                </a:solidFill>
              </a:rPr>
              <a:t>→ async_to_sync(channel_layer.group_send)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C4D8"/>
                </a:solidFill>
              </a:rPr>
              <a:t>→ Toast 4s + badge navbar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63440" y="3172968"/>
            <a:ext cx="4114800" cy="566928"/>
          </a:xfrm>
          <a:prstGeom prst="rect">
            <a:avLst/>
          </a:prstGeom>
          <a:solidFill>
            <a:srgbClr val="1A1A2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227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✉️  Message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54880" y="348386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post_save(Message)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675120" y="322783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4D8"/>
                </a:solidFill>
              </a:rPr>
              <a:t>→ async_to_sync(channel_layer.group_send)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C4D8"/>
                </a:solidFill>
              </a:rPr>
              <a:t>→ Toast 4s + badge navbar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663440" y="39136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</a:rPr>
              <a:t>Stories éphémères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663440" y="422452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expires_at = now() + 24h calculé dans save()  ·  Filtrage ORM pur (pas de Celery)  ·  Visionneuse JS 10s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4572000" cy="45720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114800" cy="41148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10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&amp; DevOps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71600" y="32461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Docker · Hetzner Cloud · Coolify · Configuration production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6459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06 · DEVOPS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686800" y="489204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Déploiement &amp; DevOps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640080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22960"/>
            <a:ext cx="1920240" cy="1645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869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GitHub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CC"/>
                </a:solidFill>
              </a:rPr>
              <a:t>Code source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B3CC"/>
                </a:solidFill>
              </a:rPr>
              <a:t>CI/CD continu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77440" y="822960"/>
            <a:ext cx="228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606040" y="822960"/>
            <a:ext cx="1920240" cy="1645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8869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🐳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0604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Docker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1737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CC"/>
                </a:solidFill>
              </a:rPr>
              <a:t>Daphne ASGI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B3CC"/>
                </a:solidFill>
              </a:rPr>
              <a:t>Deps binaires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26280" y="822960"/>
            <a:ext cx="228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754880" y="822960"/>
            <a:ext cx="1920240" cy="1645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8869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75488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Hetzner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1737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CC"/>
                </a:solidFill>
              </a:rPr>
              <a:t>VPS Cloud EU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B3CC"/>
                </a:solidFill>
              </a:rPr>
              <a:t>Coût maîtrisé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75120" y="822960"/>
            <a:ext cx="228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903720" y="822960"/>
            <a:ext cx="1920240" cy="1645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8869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90372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Coolify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03720" y="1737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CC"/>
                </a:solidFill>
              </a:rPr>
              <a:t>HTTPS auto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B3CC"/>
                </a:solidFill>
              </a:rPr>
              <a:t>Traefik proxy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0" y="2633472"/>
            <a:ext cx="45720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0" y="26334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🌐  HTTPS://CONNECTX.GFOLLY.COM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65760" y="3154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Points critiques de configuration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3566160"/>
            <a:ext cx="54864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" y="35844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Daphne (pas Gunicorn) — coexistence HTTP/WebSocket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3931920"/>
            <a:ext cx="54864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" y="39502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Redis Channel Layer obligatoire en multi-process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297680"/>
            <a:ext cx="54864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" y="43159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WHITENOISE_MANIFEST_STRICT = False (fichiers .map)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4663440"/>
            <a:ext cx="54864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" y="46817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libjpeg-dev / libpng-dev dans le Dockerfile pour Pillow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3566160"/>
            <a:ext cx="54864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0328" y="35844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CSRF_TRUSTED_ORIGINS derrière le proxy Traefik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931920"/>
            <a:ext cx="54864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0328" y="39502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SECURE_PROXY_SSL_HEADER pour les URLs HTTPS absolues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4297680"/>
            <a:ext cx="54864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0328" y="43159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EMAIL_HOST_USER ≠ DEFAULT_FROM_EMAIL (Brevo)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54880" y="4663440"/>
            <a:ext cx="54864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0328" y="46817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INSTALLED_APPS : daphne avant staticfiles, jazzmin avant admin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4572000" cy="45720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114800" cy="41148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10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de l'Application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71600" y="32461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Auth · CSRF/XSS · WebSocket · UUID publics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6459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07 · SÉCURITÉ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686800" y="489204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0972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942"/>
                </a:solidFill>
              </a:rPr>
              <a:t>Sécurité — 4 Axes Principaux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2062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42062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04672"/>
            <a:ext cx="420624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🔐  Authentification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261872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Double opt-in email (is_active=False à l'inscription)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627632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Tokens à usage unique liés au hash du mdp (invalidés après changement)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1993392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PBKDF2+SHA-256 + 4 validateurs de force configurés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2359152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CustomLoginView : messages distincts compte non activé vs identifiants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804672"/>
            <a:ext cx="42062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804672"/>
            <a:ext cx="420624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804672"/>
            <a:ext cx="420624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🛡️  Protections CSRF &amp; XSS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64608" y="1261872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CsrfViewMiddleware + CSRF_TRUSTED_ORIGINS dynamique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64608" y="1627632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Autoescaping Django dans tous les templates ({{ var }} → HTML entities)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64608" y="1993392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Retours AJAX en JSON, jamais en HTML non échappé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64608" y="2359152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textContent JS (pas innerHTML) pour éviter l'injection DOM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953512"/>
            <a:ext cx="42062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53512"/>
            <a:ext cx="4206240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953512"/>
            <a:ext cx="420624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 Sécurité WebSocket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" y="3410712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Double vérif. dans connect() : is_authenticated + participation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4048" y="3776472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close() immédiat si non authentifié (sans accept() préalable)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4048" y="4142232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Guard dans disconnect() : if not hasattr(self, 'room_group_name')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4048" y="4507992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Séparation channel groups par conversation (chat_&lt;id&gt;)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2953512"/>
            <a:ext cx="42062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953512"/>
            <a:ext cx="4206240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953512"/>
            <a:ext cx="420624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🔑  UUID publics &amp; autorisation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64608" y="3410712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Jamais d'ID séquentiel dans les URLs (128 bits d'entropie)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64608" y="3776472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Prévention énumération séquentielle des ressources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64608" y="4142232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SocialLoginRequired universel sur toutes les vues sociales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64608" y="4507992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 get_object_or_404(Post, author=request.user) → 404 si non propriétaire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6459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08 · TESTS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686800" y="489204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0972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942"/>
                </a:solidFill>
              </a:rPr>
              <a:t>Tests &amp; Résultats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04672"/>
            <a:ext cx="1965960" cy="1005840"/>
          </a:xfrm>
          <a:prstGeom prst="rect">
            <a:avLst/>
          </a:prstGeom>
          <a:solidFill>
            <a:srgbClr val="1A29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503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</a:rPr>
              <a:t>22+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" y="138988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ACF"/>
                </a:solidFill>
              </a:rPr>
              <a:t>Scénarios testés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804672"/>
            <a:ext cx="1965960" cy="1005840"/>
          </a:xfrm>
          <a:prstGeom prst="rect">
            <a:avLst/>
          </a:prstGeom>
          <a:solidFill>
            <a:srgbClr val="1A29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8503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</a:rPr>
              <a:t>100%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514600" y="138988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ACF"/>
                </a:solidFill>
              </a:rPr>
              <a:t>Cas nominaux OK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804672"/>
            <a:ext cx="1965960" cy="1005840"/>
          </a:xfrm>
          <a:prstGeom prst="rect">
            <a:avLst/>
          </a:prstGeom>
          <a:solidFill>
            <a:srgbClr val="1A29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8503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63440" y="138988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ACF"/>
                </a:solidFill>
              </a:rPr>
              <a:t>Approches de test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12280" y="804672"/>
            <a:ext cx="1965960" cy="1005840"/>
          </a:xfrm>
          <a:prstGeom prst="rect">
            <a:avLst/>
          </a:prstGeom>
          <a:solidFill>
            <a:srgbClr val="1A29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8503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</a:rPr>
              <a:t>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812280" y="138988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ACF"/>
                </a:solidFill>
              </a:rPr>
              <a:t>Failles détectées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901952"/>
          <a:ext cx="8412480" cy="29718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356616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Fonctionnalité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Scénario testé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Résultat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Inscription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Email valide + mdp fort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✅ Email activation envoyé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Connexion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Avant activation du compte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✅ Message is_active=False clair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Réinit. MDP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Lien cliqué 2 fois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✅ 2e clic refusé (token invalide)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Publication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7 images (&gt; max=5)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✅ Erreur serveur retournée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Like/Unlike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Double like/unlike rapide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✅ Compteur AJAX cohérent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Chat WebSocket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Envoi/réception 2 onglets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✅ Temps réel fonctionnel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Notifications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Like → toast destinataire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✅ Reçu instantanément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Sécurité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Suppression post d'autrui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✅ 404 (author dans get_object_or_404)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6459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08 · DÉFIS &amp; AMÉLIORATIONS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686800" y="489204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Défis Techniques &amp; Améliorations Possibles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40080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Défis résolus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170432"/>
            <a:ext cx="4023360" cy="658368"/>
          </a:xfrm>
          <a:prstGeom prst="rect">
            <a:avLst/>
          </a:prstGeom>
          <a:solidFill>
            <a:srgbClr val="1A335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70432"/>
            <a:ext cx="4572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7043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12070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DBA74"/>
                </a:solidFill>
              </a:rPr>
              <a:t>⚠  Signal sync ↔ Channel layer async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15179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D8"/>
                </a:solidFill>
              </a:rPr>
              <a:t>✓  async_to_sync() d'asgiref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920240"/>
            <a:ext cx="4023360" cy="658368"/>
          </a:xfrm>
          <a:prstGeom prst="rect">
            <a:avLst/>
          </a:prstGeom>
          <a:solidFill>
            <a:srgbClr val="1A335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920240"/>
            <a:ext cx="4572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9202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19568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DBA74"/>
                </a:solidFill>
              </a:rPr>
              <a:t>⚠  N+1 queries dans le feed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22677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D8"/>
                </a:solidFill>
              </a:rPr>
              <a:t>✓  select_related + Exists(OuterRef) → 5 req. fixes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670048"/>
            <a:ext cx="4023360" cy="658368"/>
          </a:xfrm>
          <a:prstGeom prst="rect">
            <a:avLst/>
          </a:prstGeom>
          <a:solidFill>
            <a:srgbClr val="1A335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70048"/>
            <a:ext cx="4572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67004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27066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DBA74"/>
                </a:solidFill>
              </a:rPr>
              <a:t>⚠  UTF-8 Windows/PostgreSQL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14400" y="3017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D8"/>
                </a:solidFill>
              </a:rPr>
              <a:t>✓  PGCLIENTENCODING=UTF8 dans settings ET asgi.py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419856"/>
            <a:ext cx="4023360" cy="658368"/>
          </a:xfrm>
          <a:prstGeom prst="rect">
            <a:avLst/>
          </a:prstGeom>
          <a:solidFill>
            <a:srgbClr val="1A335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419856"/>
            <a:ext cx="4572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1985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4400" y="34564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DBA74"/>
                </a:solidFill>
              </a:rPr>
              <a:t>⚠  Conflit related_name BaseModel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14400" y="37673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D8"/>
                </a:solidFill>
              </a:rPr>
              <a:t>✓  %(class)s → unicité automatique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169664"/>
            <a:ext cx="4023360" cy="658368"/>
          </a:xfrm>
          <a:prstGeom prst="rect">
            <a:avLst/>
          </a:prstGeom>
          <a:solidFill>
            <a:srgbClr val="1A335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169664"/>
            <a:ext cx="4572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16966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4400" y="4206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DBA74"/>
                </a:solidFill>
              </a:rPr>
              <a:t>⚠  Fichiers JS écrasent la sélection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14400" y="45171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D8"/>
                </a:solidFill>
              </a:rPr>
              <a:t>✓  DataTransfer comme accumulateur MAX_IMAGES=5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54880" y="7772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Améliorations possibles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54880" y="1170432"/>
            <a:ext cx="4023360" cy="566928"/>
          </a:xfrm>
          <a:prstGeom prst="rect">
            <a:avLst/>
          </a:prstGeom>
          <a:solidFill>
            <a:srgbClr val="1A335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1243584"/>
            <a:ext cx="91440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12435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TESTS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760720" y="1234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TestCase Django + ChannelsLiveServerTestCase pour les consumers WS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1792224"/>
            <a:ext cx="4023360" cy="566928"/>
          </a:xfrm>
          <a:prstGeom prst="rect">
            <a:avLst/>
          </a:prstGeom>
          <a:solidFill>
            <a:srgbClr val="1A335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1865376"/>
            <a:ext cx="91440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1865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PERFORMANCE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760720" y="18562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Pagination infinie (AJAX scroll) · CDN médias (AWS S3 / Cloudflare R2)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2414016"/>
            <a:ext cx="4023360" cy="566928"/>
          </a:xfrm>
          <a:prstGeom prst="rect">
            <a:avLst/>
          </a:prstGeom>
          <a:solidFill>
            <a:srgbClr val="1A335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2487168"/>
            <a:ext cx="91440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24871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FONCTIONNALITÉS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760720" y="247802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Partage · Mentions (@) · Hashtags · Réactions · Conversations groupe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54880" y="3035808"/>
            <a:ext cx="4023360" cy="566928"/>
          </a:xfrm>
          <a:prstGeom prst="rect">
            <a:avLst/>
          </a:prstGeom>
          <a:solidFill>
            <a:srgbClr val="1A335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54880" y="3108960"/>
            <a:ext cx="91440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31089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API REST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760720" y="309981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Django REST Framework + JWT pour app mobile React Native / Flutter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54880" y="3657600"/>
            <a:ext cx="4023360" cy="566928"/>
          </a:xfrm>
          <a:prstGeom prst="rect">
            <a:avLst/>
          </a:prstGeom>
          <a:solidFill>
            <a:srgbClr val="1A335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0" y="3730752"/>
            <a:ext cx="91440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0" y="37307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MODÉRATION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760720" y="37216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Signalement · Blocage utilisateurs · Dashboard admin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54880" y="4279392"/>
            <a:ext cx="4023360" cy="566928"/>
          </a:xfrm>
          <a:prstGeom prst="rect">
            <a:avLst/>
          </a:prstGeom>
          <a:solidFill>
            <a:srgbClr val="1A335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54880" y="4352544"/>
            <a:ext cx="91440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435254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ACCESSIBILITÉ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760720" y="4343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WCAG 2.1 · Navigation clavier · Alt text sur images uploadées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4114800" cy="41148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Conclusion &amp; Perspectives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926080" y="749808"/>
            <a:ext cx="3291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326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✅  Bilan du projet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›  7 modules complets déployés en production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›  Architecture ASGI HTTP + WebSocket maîtrisée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1214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›  Patterns professionnels : BaseModel, soft delete, UUID publics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50545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›  DevOps complet : Docker · Hetzner · Coolify · SSL auto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88950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›  Problèmes réels de production résolus (N+1, UTF-8, CSRF, Pillow)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0" y="9326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🔭  Perspectives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533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›  API REST (DRF) pour app mobile Flutter/React Native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0" y="17373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›  Tests automatisés Django + ChannelsLiveServerTestCase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21214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›  Pagination infinie &amp; CDN pour les fichiers médias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250545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›  Conversations de groupe · mentions · hashtags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288950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›  Modération · signalement · blocage utilisateurs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0" y="3401568"/>
            <a:ext cx="45720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34015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🌐  https://connectx.gfolly.com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960120" cy="274320"/>
          </a:xfrm>
          <a:prstGeom prst="rect">
            <a:avLst/>
          </a:prstGeom>
          <a:solidFill>
            <a:srgbClr val="0D1F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319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4B8A6"/>
                </a:solidFill>
              </a:rPr>
              <a:t>Python 3.12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508760" y="3931920"/>
            <a:ext cx="960120" cy="274320"/>
          </a:xfrm>
          <a:prstGeom prst="rect">
            <a:avLst/>
          </a:prstGeom>
          <a:solidFill>
            <a:srgbClr val="0D1F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08760" y="39319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4B8A6"/>
                </a:solidFill>
              </a:rPr>
              <a:t>Django 5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560320" y="3931920"/>
            <a:ext cx="960120" cy="274320"/>
          </a:xfrm>
          <a:prstGeom prst="rect">
            <a:avLst/>
          </a:prstGeom>
          <a:solidFill>
            <a:srgbClr val="0D1F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39319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4B8A6"/>
                </a:solidFill>
              </a:rPr>
              <a:t>Channels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611880" y="3931920"/>
            <a:ext cx="960120" cy="274320"/>
          </a:xfrm>
          <a:prstGeom prst="rect">
            <a:avLst/>
          </a:prstGeom>
          <a:solidFill>
            <a:srgbClr val="0D1F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39319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4B8A6"/>
                </a:solidFill>
              </a:rPr>
              <a:t>Daphne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663440" y="3931920"/>
            <a:ext cx="960120" cy="274320"/>
          </a:xfrm>
          <a:prstGeom prst="rect">
            <a:avLst/>
          </a:prstGeom>
          <a:solidFill>
            <a:srgbClr val="0D1F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9319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4B8A6"/>
                </a:solidFill>
              </a:rPr>
              <a:t>PostgreSQL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715000" y="3931920"/>
            <a:ext cx="960120" cy="274320"/>
          </a:xfrm>
          <a:prstGeom prst="rect">
            <a:avLst/>
          </a:prstGeom>
          <a:solidFill>
            <a:srgbClr val="0D1F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5000" y="39319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4B8A6"/>
                </a:solidFill>
              </a:rPr>
              <a:t>Redis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766560" y="3931920"/>
            <a:ext cx="960120" cy="274320"/>
          </a:xfrm>
          <a:prstGeom prst="rect">
            <a:avLst/>
          </a:prstGeom>
          <a:solidFill>
            <a:srgbClr val="0D1F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39319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4B8A6"/>
                </a:solidFill>
              </a:rPr>
              <a:t>Bootstrap 5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818120" y="3931920"/>
            <a:ext cx="960120" cy="274320"/>
          </a:xfrm>
          <a:prstGeom prst="rect">
            <a:avLst/>
          </a:prstGeom>
          <a:solidFill>
            <a:srgbClr val="0D1F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18120" y="39319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4B8A6"/>
                </a:solidFill>
              </a:rPr>
              <a:t>Docker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GBOSSOU Folly Sitou Carlo  ·  POTCHO ESSOSSOLAM Maxime  ·  M1 IA &amp; Big Data 2025–2026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ConnectX — Présentation 30 min</dc:title>
  <dc:subject>PptxGenJS Presentation</dc:subject>
  <dc:creator>GBOSSOU · POTCHO</dc:creator>
  <cp:lastModifiedBy>GBOSSOU · POTCHO</cp:lastModifiedBy>
  <cp:revision>1</cp:revision>
  <dcterms:created xsi:type="dcterms:W3CDTF">2026-04-23T15:27:15Z</dcterms:created>
  <dcterms:modified xsi:type="dcterms:W3CDTF">2026-04-23T15:27:15Z</dcterms:modified>
</cp:coreProperties>
</file>